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52" autoAdjust="0"/>
    <p:restoredTop sz="94660"/>
  </p:normalViewPr>
  <p:slideViewPr>
    <p:cSldViewPr snapToGrid="0">
      <p:cViewPr varScale="1">
        <p:scale>
          <a:sx n="46" d="100"/>
          <a:sy n="46" d="100"/>
        </p:scale>
        <p:origin x="42" y="6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95005C0-999D-47C2-89F3-940E3D63046A}"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A7510E-B728-458B-B15F-F8A199E2189C}" type="slidenum">
              <a:rPr lang="en-US" smtClean="0"/>
              <a:t>‹#›</a:t>
            </a:fld>
            <a:endParaRPr lang="en-US"/>
          </a:p>
        </p:txBody>
      </p:sp>
    </p:spTree>
    <p:extLst>
      <p:ext uri="{BB962C8B-B14F-4D97-AF65-F5344CB8AC3E}">
        <p14:creationId xmlns:p14="http://schemas.microsoft.com/office/powerpoint/2010/main" val="2502508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5005C0-999D-47C2-89F3-940E3D63046A}"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A7510E-B728-458B-B15F-F8A199E2189C}" type="slidenum">
              <a:rPr lang="en-US" smtClean="0"/>
              <a:t>‹#›</a:t>
            </a:fld>
            <a:endParaRPr lang="en-US"/>
          </a:p>
        </p:txBody>
      </p:sp>
    </p:spTree>
    <p:extLst>
      <p:ext uri="{BB962C8B-B14F-4D97-AF65-F5344CB8AC3E}">
        <p14:creationId xmlns:p14="http://schemas.microsoft.com/office/powerpoint/2010/main" val="409499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95005C0-999D-47C2-89F3-940E3D63046A}"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A7510E-B728-458B-B15F-F8A199E2189C}" type="slidenum">
              <a:rPr lang="en-US" smtClean="0"/>
              <a:t>‹#›</a:t>
            </a:fld>
            <a:endParaRPr lang="en-US"/>
          </a:p>
        </p:txBody>
      </p:sp>
    </p:spTree>
    <p:extLst>
      <p:ext uri="{BB962C8B-B14F-4D97-AF65-F5344CB8AC3E}">
        <p14:creationId xmlns:p14="http://schemas.microsoft.com/office/powerpoint/2010/main" val="2377208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95005C0-999D-47C2-89F3-940E3D63046A}"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A7510E-B728-458B-B15F-F8A199E2189C}" type="slidenum">
              <a:rPr lang="en-US" smtClean="0"/>
              <a:t>‹#›</a:t>
            </a:fld>
            <a:endParaRPr lang="en-US"/>
          </a:p>
        </p:txBody>
      </p:sp>
    </p:spTree>
    <p:extLst>
      <p:ext uri="{BB962C8B-B14F-4D97-AF65-F5344CB8AC3E}">
        <p14:creationId xmlns:p14="http://schemas.microsoft.com/office/powerpoint/2010/main" val="24167074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95005C0-999D-47C2-89F3-940E3D63046A}"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A7510E-B728-458B-B15F-F8A199E2189C}" type="slidenum">
              <a:rPr lang="en-US" smtClean="0"/>
              <a:t>‹#›</a:t>
            </a:fld>
            <a:endParaRPr lang="en-US"/>
          </a:p>
        </p:txBody>
      </p:sp>
    </p:spTree>
    <p:extLst>
      <p:ext uri="{BB962C8B-B14F-4D97-AF65-F5344CB8AC3E}">
        <p14:creationId xmlns:p14="http://schemas.microsoft.com/office/powerpoint/2010/main" val="1982863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95005C0-999D-47C2-89F3-940E3D63046A}"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A7510E-B728-458B-B15F-F8A199E2189C}" type="slidenum">
              <a:rPr lang="en-US" smtClean="0"/>
              <a:t>‹#›</a:t>
            </a:fld>
            <a:endParaRPr lang="en-US"/>
          </a:p>
        </p:txBody>
      </p:sp>
    </p:spTree>
    <p:extLst>
      <p:ext uri="{BB962C8B-B14F-4D97-AF65-F5344CB8AC3E}">
        <p14:creationId xmlns:p14="http://schemas.microsoft.com/office/powerpoint/2010/main" val="2851316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5005C0-999D-47C2-89F3-940E3D63046A}"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A7510E-B728-458B-B15F-F8A199E2189C}" type="slidenum">
              <a:rPr lang="en-US" smtClean="0"/>
              <a:t>‹#›</a:t>
            </a:fld>
            <a:endParaRPr lang="en-US"/>
          </a:p>
        </p:txBody>
      </p:sp>
    </p:spTree>
    <p:extLst>
      <p:ext uri="{BB962C8B-B14F-4D97-AF65-F5344CB8AC3E}">
        <p14:creationId xmlns:p14="http://schemas.microsoft.com/office/powerpoint/2010/main" val="1014202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95005C0-999D-47C2-89F3-940E3D63046A}"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A7510E-B728-458B-B15F-F8A199E2189C}" type="slidenum">
              <a:rPr lang="en-US" smtClean="0"/>
              <a:t>‹#›</a:t>
            </a:fld>
            <a:endParaRPr lang="en-US"/>
          </a:p>
        </p:txBody>
      </p:sp>
    </p:spTree>
    <p:extLst>
      <p:ext uri="{BB962C8B-B14F-4D97-AF65-F5344CB8AC3E}">
        <p14:creationId xmlns:p14="http://schemas.microsoft.com/office/powerpoint/2010/main" val="3157043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95005C0-999D-47C2-89F3-940E3D63046A}"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A7510E-B728-458B-B15F-F8A199E2189C}" type="slidenum">
              <a:rPr lang="en-US" smtClean="0"/>
              <a:t>‹#›</a:t>
            </a:fld>
            <a:endParaRPr lang="en-US"/>
          </a:p>
        </p:txBody>
      </p:sp>
    </p:spTree>
    <p:extLst>
      <p:ext uri="{BB962C8B-B14F-4D97-AF65-F5344CB8AC3E}">
        <p14:creationId xmlns:p14="http://schemas.microsoft.com/office/powerpoint/2010/main" val="41372412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5005C0-999D-47C2-89F3-940E3D63046A}"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A7510E-B728-458B-B15F-F8A199E2189C}" type="slidenum">
              <a:rPr lang="en-US" smtClean="0"/>
              <a:t>‹#›</a:t>
            </a:fld>
            <a:endParaRPr lang="en-US"/>
          </a:p>
        </p:txBody>
      </p:sp>
    </p:spTree>
    <p:extLst>
      <p:ext uri="{BB962C8B-B14F-4D97-AF65-F5344CB8AC3E}">
        <p14:creationId xmlns:p14="http://schemas.microsoft.com/office/powerpoint/2010/main" val="2973422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5005C0-999D-47C2-89F3-940E3D63046A}"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A7510E-B728-458B-B15F-F8A199E2189C}" type="slidenum">
              <a:rPr lang="en-US" smtClean="0"/>
              <a:t>‹#›</a:t>
            </a:fld>
            <a:endParaRPr lang="en-US"/>
          </a:p>
        </p:txBody>
      </p:sp>
    </p:spTree>
    <p:extLst>
      <p:ext uri="{BB962C8B-B14F-4D97-AF65-F5344CB8AC3E}">
        <p14:creationId xmlns:p14="http://schemas.microsoft.com/office/powerpoint/2010/main" val="38487995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5005C0-999D-47C2-89F3-940E3D63046A}" type="datetimeFigureOut">
              <a:rPr lang="en-US" smtClean="0"/>
              <a:t>9/29/2026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A7510E-B728-458B-B15F-F8A199E2189C}" type="slidenum">
              <a:rPr lang="en-US" smtClean="0"/>
              <a:t>‹#›</a:t>
            </a:fld>
            <a:endParaRPr lang="en-US"/>
          </a:p>
        </p:txBody>
      </p:sp>
    </p:spTree>
    <p:extLst>
      <p:ext uri="{BB962C8B-B14F-4D97-AF65-F5344CB8AC3E}">
        <p14:creationId xmlns:p14="http://schemas.microsoft.com/office/powerpoint/2010/main" val="9722216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02818"/>
            <a:ext cx="9144000" cy="2387600"/>
          </a:xfrm>
        </p:spPr>
        <p:txBody>
          <a:bodyPr/>
          <a:lstStyle/>
          <a:p>
            <a:r>
              <a:rPr lang="en-US" b="1" dirty="0" smtClean="0"/>
              <a:t>TN SKILLS</a:t>
            </a:r>
            <a:endParaRPr lang="en-US" b="1" dirty="0"/>
          </a:p>
        </p:txBody>
      </p:sp>
      <p:sp>
        <p:nvSpPr>
          <p:cNvPr id="3" name="Subtitle 2"/>
          <p:cNvSpPr>
            <a:spLocks noGrp="1"/>
          </p:cNvSpPr>
          <p:nvPr>
            <p:ph type="subTitle" idx="1"/>
          </p:nvPr>
        </p:nvSpPr>
        <p:spPr/>
        <p:txBody>
          <a:bodyPr>
            <a:normAutofit/>
          </a:bodyPr>
          <a:lstStyle/>
          <a:p>
            <a:r>
              <a:rPr lang="en-US" sz="3600" b="1" dirty="0" err="1"/>
              <a:t>P</a:t>
            </a:r>
            <a:r>
              <a:rPr lang="en-US" sz="3600" b="1" dirty="0" err="1" smtClean="0"/>
              <a:t>ocketSmart</a:t>
            </a:r>
            <a:r>
              <a:rPr lang="en-US" sz="3600" b="1" dirty="0" smtClean="0"/>
              <a:t> AI: Your Smart Budget &amp; Recommendation Assistant</a:t>
            </a:r>
            <a:endParaRPr lang="en-US" sz="3600" b="1" dirty="0"/>
          </a:p>
        </p:txBody>
      </p:sp>
    </p:spTree>
    <p:extLst>
      <p:ext uri="{BB962C8B-B14F-4D97-AF65-F5344CB8AC3E}">
        <p14:creationId xmlns:p14="http://schemas.microsoft.com/office/powerpoint/2010/main" val="3006302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t>1.Brainstorming &amp; </a:t>
            </a:r>
            <a:r>
              <a:rPr lang="en-US" sz="2800" b="1" dirty="0" err="1" smtClean="0"/>
              <a:t>ldeation</a:t>
            </a:r>
            <a:r>
              <a:rPr lang="en-US" sz="2800" b="1" dirty="0" smtClean="0"/>
              <a:t> phase</a:t>
            </a:r>
            <a:endParaRPr lang="en-US" sz="2800" b="1" dirty="0"/>
          </a:p>
        </p:txBody>
      </p:sp>
      <p:sp>
        <p:nvSpPr>
          <p:cNvPr id="3" name="Content Placeholder 2"/>
          <p:cNvSpPr>
            <a:spLocks noGrp="1"/>
          </p:cNvSpPr>
          <p:nvPr>
            <p:ph idx="1"/>
          </p:nvPr>
        </p:nvSpPr>
        <p:spPr>
          <a:xfrm>
            <a:off x="838200" y="1995055"/>
            <a:ext cx="10515600" cy="4447308"/>
          </a:xfrm>
        </p:spPr>
        <p:txBody>
          <a:bodyPr>
            <a:normAutofit/>
          </a:bodyPr>
          <a:lstStyle/>
          <a:p>
            <a:pPr>
              <a:buFont typeface="Wingdings" panose="05000000000000000000" pitchFamily="2" charset="2"/>
              <a:buChar char="Ø"/>
            </a:pPr>
            <a:r>
              <a:rPr lang="en-US" dirty="0" smtClean="0"/>
              <a:t> </a:t>
            </a:r>
            <a:r>
              <a:rPr lang="en-US" sz="2400" dirty="0" err="1" smtClean="0"/>
              <a:t>PocketSmart</a:t>
            </a:r>
            <a:r>
              <a:rPr lang="en-US" sz="2400" dirty="0" smtClean="0"/>
              <a:t> AI is a smart budget and recommendation assistant designed to help students and young people manage their money. It focuses on daily expense tracking, budget planning, expense categorization, spending analysis, budget alerts, and AI-based personalized recommendations.</a:t>
            </a:r>
          </a:p>
          <a:p>
            <a:pPr>
              <a:buFont typeface="Wingdings" panose="05000000000000000000" pitchFamily="2" charset="2"/>
              <a:buChar char="Ø"/>
            </a:pPr>
            <a:r>
              <a:rPr lang="en-US" sz="2400" dirty="0" smtClean="0"/>
              <a:t> Users can enter their income, budget, and expenses, and the AI analyzes their spending patterns to provide useful suggestions.</a:t>
            </a:r>
          </a:p>
          <a:p>
            <a:pPr>
              <a:buFont typeface="Wingdings" panose="05000000000000000000" pitchFamily="2" charset="2"/>
              <a:buChar char="Ø"/>
            </a:pPr>
            <a:r>
              <a:rPr lang="en-US" sz="2400" dirty="0" smtClean="0"/>
              <a:t> Expected outcome: The project helps users develop better budgeting habits, reduce unnecessary expenses, and make informed day-to-day spending decisions. </a:t>
            </a:r>
          </a:p>
          <a:p>
            <a:pPr>
              <a:buFont typeface="Wingdings" panose="05000000000000000000" pitchFamily="2" charset="2"/>
              <a:buChar char="Ø"/>
            </a:pPr>
            <a:r>
              <a:rPr lang="en-US" sz="2400" dirty="0"/>
              <a:t> </a:t>
            </a:r>
            <a:r>
              <a:rPr lang="en-US" sz="2400" dirty="0" smtClean="0"/>
              <a:t>Smart Suggestions: Helps users identify unnecessary spending and suggests affordable alternatives according to their budget. </a:t>
            </a:r>
          </a:p>
        </p:txBody>
      </p:sp>
    </p:spTree>
    <p:extLst>
      <p:ext uri="{BB962C8B-B14F-4D97-AF65-F5344CB8AC3E}">
        <p14:creationId xmlns:p14="http://schemas.microsoft.com/office/powerpoint/2010/main" val="4114635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t>2.Requirement Analysis Phase</a:t>
            </a:r>
            <a:endParaRPr lang="en-US" sz="2800" b="1" dirty="0"/>
          </a:p>
        </p:txBody>
      </p:sp>
      <p:sp>
        <p:nvSpPr>
          <p:cNvPr id="3" name="Content Placeholder 2"/>
          <p:cNvSpPr>
            <a:spLocks noGrp="1"/>
          </p:cNvSpPr>
          <p:nvPr>
            <p:ph idx="1"/>
          </p:nvPr>
        </p:nvSpPr>
        <p:spPr>
          <a:xfrm>
            <a:off x="838200" y="1690688"/>
            <a:ext cx="10515600" cy="4351338"/>
          </a:xfrm>
        </p:spPr>
        <p:txBody>
          <a:bodyPr>
            <a:noAutofit/>
          </a:bodyPr>
          <a:lstStyle/>
          <a:p>
            <a:pPr>
              <a:buFont typeface="Wingdings" panose="05000000000000000000" pitchFamily="2" charset="2"/>
              <a:buChar char="Ø"/>
            </a:pPr>
            <a:r>
              <a:rPr lang="en-US" sz="2400" dirty="0" smtClean="0"/>
              <a:t> </a:t>
            </a:r>
            <a:r>
              <a:rPr lang="en-US" sz="2400" dirty="0" err="1" smtClean="0"/>
              <a:t>PocketSmart</a:t>
            </a:r>
            <a:r>
              <a:rPr lang="en-US" sz="2400" dirty="0" smtClean="0"/>
              <a:t> AI is a smart budget and recommendation assistant designed to help students and young people manage their money. It focuses on daily expense tracking, budget planning, expense categorization, spending analysis, budget alerts, and AI-based personalized recommendations. </a:t>
            </a:r>
            <a:endParaRPr lang="en-US" sz="2400" dirty="0"/>
          </a:p>
          <a:p>
            <a:pPr>
              <a:buFont typeface="Wingdings" panose="05000000000000000000" pitchFamily="2" charset="2"/>
              <a:buChar char="Ø"/>
            </a:pPr>
            <a:r>
              <a:rPr lang="en-US" sz="2400" dirty="0" smtClean="0"/>
              <a:t> Users can enter their income, budget, and expenses, and the AI analyzes their spending patterns to provide useful suggestions. </a:t>
            </a:r>
          </a:p>
          <a:p>
            <a:pPr>
              <a:buFont typeface="Wingdings" panose="05000000000000000000" pitchFamily="2" charset="2"/>
              <a:buChar char="Ø"/>
            </a:pPr>
            <a:r>
              <a:rPr lang="en-US" sz="2400" dirty="0" smtClean="0"/>
              <a:t> Expected outcome: The project helps users develop better budgeting habits, reduce unnecessary expenses, and make informed day-to-day spending decisions.</a:t>
            </a:r>
          </a:p>
          <a:p>
            <a:pPr>
              <a:buFont typeface="Wingdings" panose="05000000000000000000" pitchFamily="2" charset="2"/>
              <a:buChar char="Ø"/>
            </a:pPr>
            <a:r>
              <a:rPr lang="en-US" sz="2400" dirty="0" smtClean="0"/>
              <a:t> Smart Suggestions: Helps users identify unnecessary spending and suggests affordable alternatives according to their budget. </a:t>
            </a:r>
            <a:endParaRPr lang="en-US" sz="2400" dirty="0"/>
          </a:p>
          <a:p>
            <a:pPr>
              <a:buFont typeface="Wingdings" panose="05000000000000000000" pitchFamily="2" charset="2"/>
              <a:buChar char="Ø"/>
            </a:pPr>
            <a:r>
              <a:rPr lang="en-US" sz="2400" dirty="0" smtClean="0"/>
              <a:t> Users can enter income, add/edit/delete expenses, and categorize expenses.</a:t>
            </a:r>
          </a:p>
          <a:p>
            <a:pPr>
              <a:buFont typeface="Wingdings" panose="05000000000000000000" pitchFamily="2" charset="2"/>
              <a:buChar char="Ø"/>
            </a:pPr>
            <a:endParaRPr lang="en-US" sz="2400" dirty="0"/>
          </a:p>
        </p:txBody>
      </p:sp>
    </p:spTree>
    <p:extLst>
      <p:ext uri="{BB962C8B-B14F-4D97-AF65-F5344CB8AC3E}">
        <p14:creationId xmlns:p14="http://schemas.microsoft.com/office/powerpoint/2010/main" val="4223650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t>3.Project </a:t>
            </a:r>
            <a:r>
              <a:rPr lang="en-US" sz="2800" b="1" dirty="0" err="1" smtClean="0"/>
              <a:t>Desingn</a:t>
            </a:r>
            <a:r>
              <a:rPr lang="en-US" sz="2800" b="1" dirty="0" smtClean="0"/>
              <a:t> phase</a:t>
            </a:r>
            <a:endParaRPr lang="en-US" sz="2800" b="1" dirty="0"/>
          </a:p>
        </p:txBody>
      </p:sp>
      <p:sp>
        <p:nvSpPr>
          <p:cNvPr id="3" name="Content Placeholder 2"/>
          <p:cNvSpPr>
            <a:spLocks noGrp="1"/>
          </p:cNvSpPr>
          <p:nvPr>
            <p:ph idx="1"/>
          </p:nvPr>
        </p:nvSpPr>
        <p:spPr>
          <a:xfrm>
            <a:off x="415636" y="1690688"/>
            <a:ext cx="10938164" cy="4351338"/>
          </a:xfrm>
        </p:spPr>
        <p:txBody>
          <a:bodyPr>
            <a:normAutofit/>
          </a:bodyPr>
          <a:lstStyle/>
          <a:p>
            <a:pPr lvl="1">
              <a:buFont typeface="Wingdings" panose="05000000000000000000" pitchFamily="2" charset="2"/>
              <a:buChar char="Ø"/>
            </a:pPr>
            <a:r>
              <a:rPr lang="en-US" i="1" dirty="0" smtClean="0"/>
              <a:t> System Design: </a:t>
            </a:r>
            <a:r>
              <a:rPr lang="en-US" i="1" dirty="0" err="1" smtClean="0"/>
              <a:t>PocketSmart</a:t>
            </a:r>
            <a:r>
              <a:rPr lang="en-US" i="1" dirty="0" smtClean="0"/>
              <a:t> AI collects income and expense details and analyzes spending patterns. </a:t>
            </a:r>
            <a:endParaRPr lang="en-US" i="1" dirty="0"/>
          </a:p>
          <a:p>
            <a:pPr lvl="1">
              <a:buFont typeface="Wingdings" panose="05000000000000000000" pitchFamily="2" charset="2"/>
              <a:buChar char="Ø"/>
            </a:pPr>
            <a:r>
              <a:rPr lang="en-US" i="1" dirty="0" smtClean="0"/>
              <a:t> System Architecture: It consists of User Interface, Application Layer, Database, AI Recommendation, and Reports &amp; Alerts. </a:t>
            </a:r>
            <a:endParaRPr lang="en-US" i="1" dirty="0"/>
          </a:p>
          <a:p>
            <a:pPr lvl="1">
              <a:buFont typeface="Wingdings" panose="05000000000000000000" pitchFamily="2" charset="2"/>
              <a:buChar char="Ø"/>
            </a:pPr>
            <a:r>
              <a:rPr lang="en-US" i="1" dirty="0" smtClean="0"/>
              <a:t> Main Modules: User Management, Expense Management, Budget Management, Expense Analysis, AI Recommendation, and Dashboard. </a:t>
            </a:r>
            <a:endParaRPr lang="en-US" i="1" dirty="0"/>
          </a:p>
          <a:p>
            <a:pPr lvl="1">
              <a:buFont typeface="Wingdings" panose="05000000000000000000" pitchFamily="2" charset="2"/>
              <a:buChar char="Ø"/>
            </a:pPr>
            <a:r>
              <a:rPr lang="en-US" i="1" dirty="0" smtClean="0"/>
              <a:t> Data Flow: User Input → Validation → Database → Calculation → Analysis → AI Recommendation → Dashboard/Alerts. </a:t>
            </a:r>
            <a:endParaRPr lang="en-US" i="1" dirty="0"/>
          </a:p>
          <a:p>
            <a:pPr lvl="1">
              <a:buFont typeface="Wingdings" panose="05000000000000000000" pitchFamily="2" charset="2"/>
              <a:buChar char="Ø"/>
            </a:pPr>
            <a:r>
              <a:rPr lang="en-US" i="1" dirty="0" smtClean="0"/>
              <a:t> Security &amp; Outcome: The system protects financial information and provides an easy-to-use budget tracking and AI recommendation application.</a:t>
            </a:r>
            <a:endParaRPr lang="en-US" i="1" dirty="0"/>
          </a:p>
        </p:txBody>
      </p:sp>
    </p:spTree>
    <p:extLst>
      <p:ext uri="{BB962C8B-B14F-4D97-AF65-F5344CB8AC3E}">
        <p14:creationId xmlns:p14="http://schemas.microsoft.com/office/powerpoint/2010/main" val="2265024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t>4.Project planning phase</a:t>
            </a:r>
            <a:endParaRPr lang="en-US" sz="2800" b="1" dirty="0"/>
          </a:p>
        </p:txBody>
      </p:sp>
      <p:sp>
        <p:nvSpPr>
          <p:cNvPr id="3" name="Content Placeholder 2"/>
          <p:cNvSpPr>
            <a:spLocks noGrp="1"/>
          </p:cNvSpPr>
          <p:nvPr>
            <p:ph idx="1"/>
          </p:nvPr>
        </p:nvSpPr>
        <p:spPr/>
        <p:txBody>
          <a:bodyPr>
            <a:noAutofit/>
          </a:bodyPr>
          <a:lstStyle/>
          <a:p>
            <a:pPr>
              <a:buFont typeface="Wingdings" panose="05000000000000000000" pitchFamily="2" charset="2"/>
              <a:buChar char="Ø"/>
            </a:pPr>
            <a:r>
              <a:rPr lang="en-US" dirty="0" smtClean="0"/>
              <a:t> Organize Work: Divide the project into development and documentation tasks.</a:t>
            </a:r>
          </a:p>
          <a:p>
            <a:pPr>
              <a:buFont typeface="Wingdings" panose="05000000000000000000" pitchFamily="2" charset="2"/>
              <a:buChar char="Ø"/>
            </a:pPr>
            <a:r>
              <a:rPr lang="en-US" dirty="0" smtClean="0"/>
              <a:t> Set Milestones: Create milestones for each phase and plan the project schedule.</a:t>
            </a:r>
          </a:p>
          <a:p>
            <a:pPr>
              <a:buFont typeface="Wingdings" panose="05000000000000000000" pitchFamily="2" charset="2"/>
              <a:buChar char="Ø"/>
            </a:pPr>
            <a:r>
              <a:rPr lang="en-US" dirty="0" smtClean="0"/>
              <a:t> Manage Resources &amp; Risks: Estimate time and resources and identify risks and technical challenges.</a:t>
            </a:r>
          </a:p>
          <a:p>
            <a:pPr>
              <a:buFont typeface="Wingdings" panose="05000000000000000000" pitchFamily="2" charset="2"/>
              <a:buChar char="Ø"/>
            </a:pPr>
            <a:r>
              <a:rPr lang="en-US" dirty="0" smtClean="0"/>
              <a:t> Plan Deliverables: Prepare plans for testing, documentation, demonstration, and final submission.</a:t>
            </a:r>
          </a:p>
          <a:p>
            <a:pPr>
              <a:buFont typeface="Wingdings" panose="05000000000000000000" pitchFamily="2" charset="2"/>
              <a:buChar char="Ø"/>
            </a:pPr>
            <a:r>
              <a:rPr lang="en-US" dirty="0" smtClean="0"/>
              <a:t> Project Management: Maintain version control, an organized repository, and complete the required project outputs.</a:t>
            </a:r>
            <a:endParaRPr lang="en-US" dirty="0"/>
          </a:p>
        </p:txBody>
      </p:sp>
    </p:spTree>
    <p:extLst>
      <p:ext uri="{BB962C8B-B14F-4D97-AF65-F5344CB8AC3E}">
        <p14:creationId xmlns:p14="http://schemas.microsoft.com/office/powerpoint/2010/main" val="296192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t>5.Project Development Phase</a:t>
            </a:r>
            <a:endParaRPr lang="en-US" sz="2800" b="1" dirty="0"/>
          </a:p>
        </p:txBody>
      </p:sp>
      <p:sp>
        <p:nvSpPr>
          <p:cNvPr id="3" name="Content Placeholder 2"/>
          <p:cNvSpPr>
            <a:spLocks noGrp="1"/>
          </p:cNvSpPr>
          <p:nvPr>
            <p:ph idx="1"/>
          </p:nvPr>
        </p:nvSpPr>
        <p:spPr/>
        <p:txBody>
          <a:bodyPr>
            <a:noAutofit/>
          </a:bodyPr>
          <a:lstStyle/>
          <a:p>
            <a:pPr>
              <a:buFont typeface="Wingdings" panose="05000000000000000000" pitchFamily="2" charset="2"/>
              <a:buChar char="Ø"/>
            </a:pPr>
            <a:r>
              <a:rPr lang="en-US" i="1" dirty="0" smtClean="0"/>
              <a:t> The development phase of </a:t>
            </a:r>
            <a:r>
              <a:rPr lang="en-US" i="1" dirty="0" err="1" smtClean="0"/>
              <a:t>PocketSmart</a:t>
            </a:r>
            <a:r>
              <a:rPr lang="en-US" i="1" dirty="0" smtClean="0"/>
              <a:t> AI focuses on converting the project design into a working application. </a:t>
            </a:r>
          </a:p>
          <a:p>
            <a:pPr>
              <a:buFont typeface="Wingdings" panose="05000000000000000000" pitchFamily="2" charset="2"/>
              <a:buChar char="Ø"/>
            </a:pPr>
            <a:r>
              <a:rPr lang="en-US" i="1" dirty="0" smtClean="0"/>
              <a:t> First, the user interface, database, and system architecture are developed. </a:t>
            </a:r>
          </a:p>
          <a:p>
            <a:pPr>
              <a:buFont typeface="Wingdings" panose="05000000000000000000" pitchFamily="2" charset="2"/>
              <a:buChar char="Ø"/>
            </a:pPr>
            <a:r>
              <a:rPr lang="en-US" i="1" dirty="0" smtClean="0"/>
              <a:t> Features such as income tracking, expense management, budgeting, savings, expense categorization, and financial reports are added. </a:t>
            </a:r>
          </a:p>
          <a:p>
            <a:pPr>
              <a:buFont typeface="Wingdings" panose="05000000000000000000" pitchFamily="2" charset="2"/>
              <a:buChar char="Ø"/>
            </a:pPr>
            <a:r>
              <a:rPr lang="en-US" i="1" dirty="0" smtClean="0"/>
              <a:t> AI is integrated to provide personalized financial suggestions and spending analysis. </a:t>
            </a:r>
          </a:p>
          <a:p>
            <a:pPr>
              <a:buFont typeface="Wingdings" panose="05000000000000000000" pitchFamily="2" charset="2"/>
              <a:buChar char="Ø"/>
            </a:pPr>
            <a:r>
              <a:rPr lang="en-US" i="1" dirty="0" smtClean="0"/>
              <a:t> Security and privacy features are also implemented to protect user data. </a:t>
            </a:r>
          </a:p>
          <a:p>
            <a:pPr marL="0" indent="0">
              <a:buNone/>
            </a:pPr>
            <a:r>
              <a:rPr lang="en-US" dirty="0" smtClean="0"/>
              <a:t> </a:t>
            </a:r>
          </a:p>
          <a:p>
            <a:endParaRPr lang="en-US" dirty="0" smtClean="0"/>
          </a:p>
        </p:txBody>
      </p:sp>
    </p:spTree>
    <p:extLst>
      <p:ext uri="{BB962C8B-B14F-4D97-AF65-F5344CB8AC3E}">
        <p14:creationId xmlns:p14="http://schemas.microsoft.com/office/powerpoint/2010/main" val="341987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3564" y="219652"/>
            <a:ext cx="10515600" cy="1325563"/>
          </a:xfrm>
        </p:spPr>
        <p:txBody>
          <a:bodyPr>
            <a:normAutofit/>
          </a:bodyPr>
          <a:lstStyle/>
          <a:p>
            <a:r>
              <a:rPr lang="en-US" sz="2800" b="1" dirty="0" smtClean="0"/>
              <a:t>6.Projcet Testing Phase</a:t>
            </a:r>
            <a:endParaRPr lang="en-US" sz="2800" b="1" dirty="0"/>
          </a:p>
        </p:txBody>
      </p:sp>
      <p:sp>
        <p:nvSpPr>
          <p:cNvPr id="3" name="Content Placeholder 2"/>
          <p:cNvSpPr>
            <a:spLocks noGrp="1"/>
          </p:cNvSpPr>
          <p:nvPr>
            <p:ph idx="1"/>
          </p:nvPr>
        </p:nvSpPr>
        <p:spPr/>
        <p:txBody>
          <a:bodyPr>
            <a:noAutofit/>
          </a:bodyPr>
          <a:lstStyle/>
          <a:p>
            <a:pPr>
              <a:buFont typeface="Wingdings" panose="05000000000000000000" pitchFamily="2" charset="2"/>
              <a:buChar char="Ø"/>
            </a:pPr>
            <a:r>
              <a:rPr lang="en-US" sz="2400" dirty="0" smtClean="0"/>
              <a:t> The Project Testing Phase of </a:t>
            </a:r>
            <a:r>
              <a:rPr lang="en-US" sz="2400" dirty="0" err="1" smtClean="0"/>
              <a:t>PocketSmart</a:t>
            </a:r>
            <a:r>
              <a:rPr lang="en-US" sz="2400" dirty="0" smtClean="0"/>
              <a:t> AI focuses on checking whether the application works correctly and reliably.</a:t>
            </a:r>
          </a:p>
          <a:p>
            <a:pPr>
              <a:buFont typeface="Wingdings" panose="05000000000000000000" pitchFamily="2" charset="2"/>
              <a:buChar char="Ø"/>
            </a:pPr>
            <a:r>
              <a:rPr lang="en-US" sz="2400" dirty="0" smtClean="0"/>
              <a:t>  All features such as user login, income and expense tracking, budgeting, savings suggestions, AI-based recommendations, and reports are tested. </a:t>
            </a:r>
          </a:p>
          <a:p>
            <a:pPr>
              <a:buFont typeface="Wingdings" panose="05000000000000000000" pitchFamily="2" charset="2"/>
              <a:buChar char="Ø"/>
            </a:pPr>
            <a:r>
              <a:rPr lang="en-US" sz="2400" dirty="0" smtClean="0"/>
              <a:t> The system is checked for errors, incorrect calculations, security issues, and performance problems. </a:t>
            </a:r>
          </a:p>
          <a:p>
            <a:pPr>
              <a:buFont typeface="Wingdings" panose="05000000000000000000" pitchFamily="2" charset="2"/>
              <a:buChar char="Ø"/>
            </a:pPr>
            <a:r>
              <a:rPr lang="en-US" sz="2400" dirty="0" smtClean="0"/>
              <a:t> Different modules are tested separately and then together to ensure smooth operation. </a:t>
            </a:r>
          </a:p>
          <a:p>
            <a:pPr>
              <a:buFont typeface="Wingdings" panose="05000000000000000000" pitchFamily="2" charset="2"/>
              <a:buChar char="Ø"/>
            </a:pPr>
            <a:r>
              <a:rPr lang="en-US" sz="2400" dirty="0" smtClean="0"/>
              <a:t> Any bugs or errors found during testing are corrected and the application is tested again</a:t>
            </a:r>
            <a:endParaRPr lang="en-US" sz="2400" dirty="0"/>
          </a:p>
        </p:txBody>
      </p:sp>
    </p:spTree>
    <p:extLst>
      <p:ext uri="{BB962C8B-B14F-4D97-AF65-F5344CB8AC3E}">
        <p14:creationId xmlns:p14="http://schemas.microsoft.com/office/powerpoint/2010/main" val="3220819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t>7.</a:t>
            </a:r>
            <a:r>
              <a:rPr lang="en-US" sz="2800" b="1" dirty="0" smtClean="0"/>
              <a:t> </a:t>
            </a:r>
            <a:r>
              <a:rPr lang="en-US" sz="2800" b="1" dirty="0" smtClean="0"/>
              <a:t>Project Documentation Phase</a:t>
            </a:r>
            <a:endParaRPr lang="en-US" sz="2800" b="1" dirty="0"/>
          </a:p>
        </p:txBody>
      </p:sp>
      <p:sp>
        <p:nvSpPr>
          <p:cNvPr id="3" name="Content Placeholder 2"/>
          <p:cNvSpPr>
            <a:spLocks noGrp="1"/>
          </p:cNvSpPr>
          <p:nvPr>
            <p:ph idx="1"/>
          </p:nvPr>
        </p:nvSpPr>
        <p:spPr>
          <a:xfrm>
            <a:off x="838200" y="1462088"/>
            <a:ext cx="11218718" cy="4351338"/>
          </a:xfrm>
        </p:spPr>
        <p:txBody>
          <a:bodyPr>
            <a:normAutofit/>
          </a:bodyPr>
          <a:lstStyle/>
          <a:p>
            <a:pPr>
              <a:buFont typeface="Wingdings" panose="05000000000000000000" pitchFamily="2" charset="2"/>
              <a:buChar char="Ø"/>
            </a:pPr>
            <a:r>
              <a:rPr lang="en-US" dirty="0"/>
              <a:t> </a:t>
            </a:r>
            <a:r>
              <a:rPr lang="en-US" dirty="0" smtClean="0"/>
              <a:t>The Project Documentation Phase of </a:t>
            </a:r>
            <a:r>
              <a:rPr lang="en-US" dirty="0" err="1" smtClean="0"/>
              <a:t>PocketSmart</a:t>
            </a:r>
            <a:r>
              <a:rPr lang="en-US" dirty="0" smtClean="0"/>
              <a:t> AI involves preparing complete records of the project and its development process.</a:t>
            </a:r>
          </a:p>
          <a:p>
            <a:pPr>
              <a:buFont typeface="Wingdings" panose="05000000000000000000" pitchFamily="2" charset="2"/>
              <a:buChar char="Ø"/>
            </a:pPr>
            <a:r>
              <a:rPr lang="en-US" dirty="0" smtClean="0"/>
              <a:t> It includes documenting the project objectives, system requirements, design, </a:t>
            </a:r>
            <a:r>
              <a:rPr lang="en-US" dirty="0" err="1" smtClean="0"/>
              <a:t>features,database</a:t>
            </a:r>
            <a:r>
              <a:rPr lang="en-US" dirty="0" smtClean="0"/>
              <a:t> structure, AI functions, development methods, and testing results.</a:t>
            </a:r>
          </a:p>
          <a:p>
            <a:pPr>
              <a:buFont typeface="Wingdings" panose="05000000000000000000" pitchFamily="2" charset="2"/>
              <a:buChar char="Ø"/>
            </a:pPr>
            <a:r>
              <a:rPr lang="en-US" dirty="0" smtClean="0"/>
              <a:t> The documentation explains how users can use features such as expense tracking, budgeting, savings suggestions, and AI-based financial recommendations. </a:t>
            </a:r>
          </a:p>
          <a:p>
            <a:pPr>
              <a:buFont typeface="Wingdings" panose="05000000000000000000" pitchFamily="2" charset="2"/>
              <a:buChar char="Ø"/>
            </a:pPr>
            <a:r>
              <a:rPr lang="en-US" dirty="0" smtClean="0"/>
              <a:t> It also records the errors identified during testing and the solutions implemented.</a:t>
            </a:r>
          </a:p>
        </p:txBody>
      </p:sp>
    </p:spTree>
    <p:extLst>
      <p:ext uri="{BB962C8B-B14F-4D97-AF65-F5344CB8AC3E}">
        <p14:creationId xmlns:p14="http://schemas.microsoft.com/office/powerpoint/2010/main" val="3546890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t>8.Project Demonstration Phase</a:t>
            </a:r>
            <a:endParaRPr lang="en-US" sz="2800" b="1" dirty="0"/>
          </a:p>
        </p:txBody>
      </p:sp>
      <p:sp>
        <p:nvSpPr>
          <p:cNvPr id="3" name="Content Placeholder 2"/>
          <p:cNvSpPr>
            <a:spLocks noGrp="1"/>
          </p:cNvSpPr>
          <p:nvPr>
            <p:ph idx="1"/>
          </p:nvPr>
        </p:nvSpPr>
        <p:spPr/>
        <p:txBody>
          <a:bodyPr>
            <a:noAutofit/>
          </a:bodyPr>
          <a:lstStyle/>
          <a:p>
            <a:pPr>
              <a:buFont typeface="Wingdings" panose="05000000000000000000" pitchFamily="2" charset="2"/>
              <a:buChar char="Ø"/>
            </a:pPr>
            <a:r>
              <a:rPr lang="en-US" dirty="0"/>
              <a:t> </a:t>
            </a:r>
            <a:r>
              <a:rPr lang="en-US" dirty="0" smtClean="0"/>
              <a:t>The Project Demonstration Phase of </a:t>
            </a:r>
            <a:r>
              <a:rPr lang="en-US" dirty="0" err="1" smtClean="0"/>
              <a:t>PocketSmart</a:t>
            </a:r>
            <a:r>
              <a:rPr lang="en-US" dirty="0" smtClean="0"/>
              <a:t> AI involves presenting the completed application to users, teachers, or project evaluators.</a:t>
            </a:r>
          </a:p>
          <a:p>
            <a:pPr>
              <a:buFont typeface="Wingdings" panose="05000000000000000000" pitchFamily="2" charset="2"/>
              <a:buChar char="Ø"/>
            </a:pPr>
            <a:r>
              <a:rPr lang="en-US" dirty="0" smtClean="0"/>
              <a:t> During the demonstration, the main features such as user login, income and expense tracking, budget management, savings suggestions, AI-based financial recommendations, and reports are explained and shown.</a:t>
            </a:r>
          </a:p>
          <a:p>
            <a:pPr>
              <a:buFont typeface="Wingdings" panose="05000000000000000000" pitchFamily="2" charset="2"/>
              <a:buChar char="Ø"/>
            </a:pPr>
            <a:r>
              <a:rPr lang="en-US" dirty="0" smtClean="0"/>
              <a:t> The working process of the system is demonstrated step by step using sample data.</a:t>
            </a:r>
          </a:p>
          <a:p>
            <a:pPr>
              <a:buFont typeface="Wingdings" panose="05000000000000000000" pitchFamily="2" charset="2"/>
              <a:buChar char="Ø"/>
            </a:pPr>
            <a:r>
              <a:rPr lang="en-US" dirty="0" smtClean="0"/>
              <a:t> The project team explains how </a:t>
            </a:r>
            <a:r>
              <a:rPr lang="en-US" dirty="0" err="1" smtClean="0"/>
              <a:t>PocketSmart</a:t>
            </a:r>
            <a:r>
              <a:rPr lang="en-US" dirty="0" smtClean="0"/>
              <a:t> AI helps users manage their finances effectively.</a:t>
            </a:r>
          </a:p>
          <a:p>
            <a:pPr marL="0" indent="0">
              <a:buNone/>
            </a:pPr>
            <a:endParaRPr lang="en-US" dirty="0" smtClean="0"/>
          </a:p>
        </p:txBody>
      </p:sp>
    </p:spTree>
    <p:extLst>
      <p:ext uri="{BB962C8B-B14F-4D97-AF65-F5344CB8AC3E}">
        <p14:creationId xmlns:p14="http://schemas.microsoft.com/office/powerpoint/2010/main" val="2329488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t>Conclusion</a:t>
            </a:r>
            <a:endParaRPr lang="en-US" sz="2800" b="1" dirty="0"/>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Ø"/>
            </a:pPr>
            <a:r>
              <a:rPr lang="en-US" dirty="0" smtClean="0"/>
              <a:t> </a:t>
            </a:r>
            <a:r>
              <a:rPr lang="en-US" dirty="0" err="1" smtClean="0"/>
              <a:t>PocketSmart</a:t>
            </a:r>
            <a:r>
              <a:rPr lang="en-US" dirty="0" smtClean="0"/>
              <a:t> AI: Your Smart Budget &amp; Recommendation Assistant is designed to make personal budget management simple, organized, and intelligent. </a:t>
            </a:r>
          </a:p>
          <a:p>
            <a:pPr>
              <a:buFont typeface="Wingdings" panose="05000000000000000000" pitchFamily="2" charset="2"/>
              <a:buChar char="Ø"/>
            </a:pPr>
            <a:r>
              <a:rPr lang="en-US" dirty="0" smtClean="0"/>
              <a:t> The system helps users record and categorize their expenses, set budgets, monitor spending, and understand their financial habits.</a:t>
            </a:r>
          </a:p>
          <a:p>
            <a:pPr>
              <a:buFont typeface="Wingdings" panose="05000000000000000000" pitchFamily="2" charset="2"/>
              <a:buChar char="Ø"/>
            </a:pPr>
            <a:r>
              <a:rPr lang="en-US" dirty="0" smtClean="0"/>
              <a:t> By using AI-based analysis, </a:t>
            </a:r>
            <a:r>
              <a:rPr lang="en-US" dirty="0" err="1" smtClean="0"/>
              <a:t>PocketSmart</a:t>
            </a:r>
            <a:r>
              <a:rPr lang="en-US" dirty="0" smtClean="0"/>
              <a:t> AI can provide personalized recommendations based on the user's spending patterns and budget limits. </a:t>
            </a:r>
          </a:p>
          <a:p>
            <a:pPr>
              <a:buFont typeface="Wingdings" panose="05000000000000000000" pitchFamily="2" charset="2"/>
              <a:buChar char="Ø"/>
            </a:pPr>
            <a:r>
              <a:rPr lang="en-US" smtClean="0"/>
              <a:t> The </a:t>
            </a:r>
            <a:r>
              <a:rPr lang="en-US" dirty="0" smtClean="0"/>
              <a:t>project combines expense tracking, budget management, spending analysis, alerts, and smart recommendations in a single user-friendly application.</a:t>
            </a:r>
            <a:endParaRPr lang="en-US" dirty="0"/>
          </a:p>
        </p:txBody>
      </p:sp>
    </p:spTree>
    <p:extLst>
      <p:ext uri="{BB962C8B-B14F-4D97-AF65-F5344CB8AC3E}">
        <p14:creationId xmlns:p14="http://schemas.microsoft.com/office/powerpoint/2010/main" val="10393416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898</Words>
  <Application>Microsoft Office PowerPoint</Application>
  <PresentationFormat>Widescreen</PresentationFormat>
  <Paragraphs>53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Wingdings</vt:lpstr>
      <vt:lpstr>Office Theme</vt:lpstr>
      <vt:lpstr>TN SKILLS</vt:lpstr>
      <vt:lpstr>1.Brainstorming &amp; ldeation phase</vt:lpstr>
      <vt:lpstr>2.Requirement Analysis Phase</vt:lpstr>
      <vt:lpstr>3.Project Desingn phase</vt:lpstr>
      <vt:lpstr>4.Project planning phase</vt:lpstr>
      <vt:lpstr>5.Project Development Phase</vt:lpstr>
      <vt:lpstr>6.Projcet Testing Phase</vt:lpstr>
      <vt:lpstr>7. Project Documentation Phase</vt:lpstr>
      <vt:lpstr>8.Project Demonstration Phase</vt:lpstr>
      <vt:lpstr>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TN SKILLS</dc:title>
  <dc:creator>System-8</dc:creator>
  <cp:lastModifiedBy>System-8</cp:lastModifiedBy>
  <cp:revision>9</cp:revision>
  <dcterms:created xsi:type="dcterms:W3CDTF">2026-09-29T04:53:47Z</dcterms:created>
  <dcterms:modified xsi:type="dcterms:W3CDTF">2026-09-29T06:03:11Z</dcterms:modified>
</cp:coreProperties>
</file>